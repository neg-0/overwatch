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20116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8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OVERWATCH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OF ACTION &amp; MILESTONES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operational documents into actionable intelligence — automatically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Lines of Effort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Data  •  Build the AI POC  •  Integrate Maven Smart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4434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&amp; OPPORTUNITY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12801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Commanders receive operational data as unstructured narratives — OPLANs, FRAGORDs, Intel reports, and message traffic. Staff must manually extract, cross-reference, and structure this information before it can inform decisions. This process takes hours to days, introduces errors, and cannot keep pace with operational tempo.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28016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51760"/>
            <a:ext cx="54864" cy="12801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OVERWATCH DELIVERS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system that reads operational documents and automatically produces structured, actionable output — units on a map, missions on a timeline, dependencies in a knowledge graph, and tasking orders ready for review. What takes a staff section hours, Overwatch does in minutes.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2651760" cy="45720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Minutes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160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document to structured operational picture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4160520"/>
            <a:ext cx="2651760" cy="45720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4160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links back to its source document and doctrine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26480" y="4160520"/>
            <a:ext cx="2651760" cy="45720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1605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60920" y="4160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learns new document types without reprogramming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APPROACH: THREE LINES OF EFFORT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running three parallel efforts that converge on a production capability in Maven Smart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51760" cy="30175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08760"/>
            <a:ext cx="2651760" cy="457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6012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6012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&amp; Define Data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94360" y="2286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9436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what operational data exists, define what Overwatch needs, and bridge the gap with exercise and available data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9436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system that will define what data the Joint Force should produce — not just consuming what's there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4360" y="3749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9436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working S3/S5 exercise data; pursuing CENTCOM/INDOPACOM access (awaiting response)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91840" y="1508760"/>
            <a:ext cx="2651760" cy="30175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291840" y="1508760"/>
            <a:ext cx="2651760" cy="457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9164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9476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2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79476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AI POC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429000" y="2286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42900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ingests documents → structures into a knowledge graph → surfaces gaps, dependencies, and priorities for decision makers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342900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42900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Unclassified prototype using AI-generated scenario data — validates the full pipeline before building in Maven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429000" y="3749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342900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near complete (~85%)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not yet started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6126480" y="1508760"/>
            <a:ext cx="2651760" cy="301752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26480" y="1508760"/>
            <a:ext cx="265176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629400" y="16733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62940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Smart System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263640" y="2286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26364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production system in Maven — re-engineering LOE 2 concepts in the operational environment using real data from LOE 1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6263640" y="30175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626364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is the accredited environment. Building in parallel with LOE 2, not waiting for it to finish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263640" y="3749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26364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AI doc generation and real doc parsing underway in Maven; ontology shaping from LOE 2 patterns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OVERWATCH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1 — NARRATIVE TO STRUCTURE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51760" cy="13716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265176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141732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OPLAN, FRAGORD, Intel report, or message traffic enters the system</a:t>
            </a:r>
            <a:endParaRPr lang="en-US" sz="9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1783080"/>
            <a:ext cx="182880" cy="1828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280160"/>
            <a:ext cx="26517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7" name="Shape 14"/>
          <p:cNvSpPr/>
          <p:nvPr/>
        </p:nvSpPr>
        <p:spPr>
          <a:xfrm>
            <a:off x="3401568" y="1417320"/>
            <a:ext cx="320040" cy="3200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5"/>
          <p:cNvSpPr/>
          <p:nvPr/>
        </p:nvSpPr>
        <p:spPr>
          <a:xfrm>
            <a:off x="3401568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9476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Structures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01568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document type, extracts units, missions, targets, assets, and relationships</a:t>
            </a:r>
            <a:endParaRPr lang="en-US" sz="9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83080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6126480" y="1280160"/>
            <a:ext cx="2651760" cy="13716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26480" y="1280160"/>
            <a:ext cx="265176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4" name="Shape 20"/>
          <p:cNvSpPr/>
          <p:nvPr/>
        </p:nvSpPr>
        <p:spPr>
          <a:xfrm>
            <a:off x="6236208" y="1417320"/>
            <a:ext cx="320040" cy="32004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5" name="Text 21"/>
          <p:cNvSpPr/>
          <p:nvPr/>
        </p:nvSpPr>
        <p:spPr>
          <a:xfrm>
            <a:off x="6236208" y="1417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62940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236208" y="18288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forms a connected graph — strategy to missions to assets and their dependencies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5720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2 — DECISION SUPPORT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57200" y="3017520"/>
            <a:ext cx="2651760" cy="13716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57200" y="3017520"/>
            <a:ext cx="265176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31" name="Shape 27"/>
          <p:cNvSpPr/>
          <p:nvPr/>
        </p:nvSpPr>
        <p:spPr>
          <a:xfrm>
            <a:off x="566928" y="315468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32" name="Text 28"/>
          <p:cNvSpPr/>
          <p:nvPr/>
        </p:nvSpPr>
        <p:spPr>
          <a:xfrm>
            <a:off x="566928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6012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66928" y="35661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picture on a map, missions on a timeline, orders ready for review</a:t>
            </a:r>
            <a:endParaRPr lang="en-US" sz="9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520440"/>
            <a:ext cx="182880" cy="182880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3291840" y="3017520"/>
            <a:ext cx="2651760" cy="13716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3291840" y="3017520"/>
            <a:ext cx="265176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8" name="Shape 33"/>
          <p:cNvSpPr/>
          <p:nvPr/>
        </p:nvSpPr>
        <p:spPr>
          <a:xfrm>
            <a:off x="3401568" y="3154680"/>
            <a:ext cx="320040" cy="32004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39" name="Text 34"/>
          <p:cNvSpPr/>
          <p:nvPr/>
        </p:nvSpPr>
        <p:spPr>
          <a:xfrm>
            <a:off x="3401568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379476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Gaps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3401568" y="35661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walks the graph to find unmet dependencies, coverage gaps, and time conflicts — ranked by strategic priority</a:t>
            </a:r>
            <a:endParaRPr lang="en-US" sz="9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520440"/>
            <a:ext cx="182880" cy="18288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126480" y="3017520"/>
            <a:ext cx="2651760" cy="137160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6126480" y="3017520"/>
            <a:ext cx="2651760" cy="36576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5" name="Shape 39"/>
          <p:cNvSpPr/>
          <p:nvPr/>
        </p:nvSpPr>
        <p:spPr>
          <a:xfrm>
            <a:off x="6236208" y="3154680"/>
            <a:ext cx="320040" cy="32004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46" name="Text 40"/>
          <p:cNvSpPr/>
          <p:nvPr/>
        </p:nvSpPr>
        <p:spPr>
          <a:xfrm>
            <a:off x="6236208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6629400" y="3154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Analysis</a:t>
            </a:r>
            <a:endParaRPr lang="en-US" sz="1200" dirty="0"/>
          </a:p>
        </p:txBody>
      </p:sp>
      <p:sp>
        <p:nvSpPr>
          <p:cNvPr id="48" name="Text 42"/>
          <p:cNvSpPr/>
          <p:nvPr/>
        </p:nvSpPr>
        <p:spPr>
          <a:xfrm>
            <a:off x="6236208" y="35661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if we lose this asset?" — trace the cascade through the knowledge graph to affected missions and priorities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0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65269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0" name="Text 8"/>
          <p:cNvSpPr/>
          <p:nvPr/>
        </p:nvSpPr>
        <p:spPr>
          <a:xfrm>
            <a:off x="2965269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65269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18857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3" name="Text 11"/>
          <p:cNvSpPr/>
          <p:nvPr/>
        </p:nvSpPr>
        <p:spPr>
          <a:xfrm>
            <a:off x="3918857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18857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72446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6" name="Text 14"/>
          <p:cNvSpPr/>
          <p:nvPr/>
        </p:nvSpPr>
        <p:spPr>
          <a:xfrm>
            <a:off x="4872446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72446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6034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19" name="Text 17"/>
          <p:cNvSpPr/>
          <p:nvPr/>
        </p:nvSpPr>
        <p:spPr>
          <a:xfrm>
            <a:off x="5826034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26034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79623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2" name="Text 20"/>
          <p:cNvSpPr/>
          <p:nvPr/>
        </p:nvSpPr>
        <p:spPr>
          <a:xfrm>
            <a:off x="6779623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79623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3211" y="1280160"/>
            <a:ext cx="953589" cy="36576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5" name="Text 23"/>
          <p:cNvSpPr/>
          <p:nvPr/>
        </p:nvSpPr>
        <p:spPr>
          <a:xfrm>
            <a:off x="7733211" y="1280160"/>
            <a:ext cx="9535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33211" y="1645920"/>
            <a:ext cx="0" cy="3291840"/>
          </a:xfrm>
          <a:prstGeom prst="line">
            <a:avLst/>
          </a:prstGeom>
          <a:noFill/>
          <a:ln w="6350">
            <a:solidFill>
              <a:srgbClr val="1B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12694" y="1234440"/>
            <a:ext cx="27432" cy="37490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8" name="Text 26"/>
          <p:cNvSpPr/>
          <p:nvPr/>
        </p:nvSpPr>
        <p:spPr>
          <a:xfrm>
            <a:off x="2492654" y="100584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26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95651" y="1234440"/>
            <a:ext cx="27432" cy="37490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4075611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DUE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7432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011680" y="2011680"/>
            <a:ext cx="2383971" cy="457200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01168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Discovery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95651" y="2011680"/>
            <a:ext cx="476794" cy="457200"/>
          </a:xfrm>
          <a:prstGeom prst="rect">
            <a:avLst/>
          </a:prstGeom>
          <a:solidFill>
            <a:srgbClr val="3A86FF">
              <a:alpha val="70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72446" y="2011680"/>
            <a:ext cx="3814354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2446" y="201168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 Access &amp; Connectivity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3063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POC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11680" y="3108960"/>
            <a:ext cx="2383971" cy="457200"/>
          </a:xfrm>
          <a:prstGeom prst="rect">
            <a:avLst/>
          </a:prstGeom>
          <a:solidFill>
            <a:srgbClr val="FFB703">
              <a:alpha val="7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11680" y="310896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Build &amp; Demo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72446" y="3108960"/>
            <a:ext cx="3814354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72446" y="3108960"/>
            <a:ext cx="3814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Follow-On (Shaped by POC Results)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4160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11680" y="4206240"/>
            <a:ext cx="2383971" cy="45720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11680" y="4206240"/>
            <a:ext cx="2383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Build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872446" y="4206240"/>
            <a:ext cx="1907177" cy="457200"/>
          </a:xfrm>
          <a:prstGeom prst="rect">
            <a:avLst/>
          </a:prstGeom>
          <a:solidFill>
            <a:srgbClr val="324A5F">
              <a:alpha val="70000"/>
            </a:srgbClr>
          </a:solidFill>
          <a:ln w="12700">
            <a:solidFill>
              <a:srgbClr val="324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72446" y="420624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Layer Build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79623" y="4206240"/>
            <a:ext cx="1907177" cy="457200"/>
          </a:xfrm>
          <a:prstGeom prst="rect">
            <a:avLst/>
          </a:prstGeom>
          <a:solidFill>
            <a:srgbClr val="48647A">
              <a:alpha val="70000"/>
            </a:srgbClr>
          </a:solidFill>
          <a:ln w="12700">
            <a:solidFill>
              <a:srgbClr val="4864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79623" y="4206240"/>
            <a:ext cx="19071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Testing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MILESTONES &amp; DECISION POINTS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914400"/>
                <a:gridCol w="2743200"/>
                <a:gridCol w="640080"/>
                <a:gridCol w="39319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A5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Leadership findings report: data landscape, limiting factors, access needs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findings to leadership; request action on data gaps and joint command access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AI pipeline prototype; ontology draft from LOE 2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Maven viability; assess ontology alignment with emerging real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1 demo: document → KG → map/Gantt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review; assess lay of the land across all 3 LOEs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2: gap detection &amp; impact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Demonstrate decision support layer; shape follow-on AI advisor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patterns validated; Maven pipeline prototype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8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AI approach transfers to Maven; shape follow-on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MVP ready for exercise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against exercise scenario; confirm operator readiness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4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D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Maven dashboard full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operator acceptance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/ Continued Development Decision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B70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Deploy, continue development, or combine with System Delta 85 effort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4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THREE EFFORTS CONVERGE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LOE produces outputs that feed the others — they converge on a production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2286000" cy="20116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2286000" cy="45720"/>
          </a:xfrm>
          <a:prstGeom prst="rect">
            <a:avLst/>
          </a:prstGeom>
          <a:solidFill>
            <a:srgbClr val="3A86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58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1: Find &amp; Define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488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what data exists, defines what Overwatch needs, and produces requirements back to commands. Shapes both the AI approach and the Maven ontology.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228600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29000" y="1554480"/>
            <a:ext cx="2286000" cy="20116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1554480"/>
            <a:ext cx="2286000" cy="45720"/>
          </a:xfrm>
          <a:prstGeom prst="rect">
            <a:avLst/>
          </a:prstGeom>
          <a:solidFill>
            <a:srgbClr val="FFB70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2: AI POC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611880" y="21488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AI can handle unknown formats. If data arrives structured (best case), AI ingest becomes fallback insurance. Patterns transfer to Maven.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286000"/>
            <a:ext cx="320040" cy="320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400800" y="1554480"/>
            <a:ext cx="2286000" cy="201168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00800" y="1554480"/>
            <a:ext cx="228600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37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49440" y="1737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LOE 3: Maven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583680" y="214884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built in parallel — not waiting for LOE 2. Re-engineering the same concepts inside the accredited Maven environment using real data.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B2D45"/>
          </a:solidFill>
          <a:ln/>
        </p:spPr>
      </p:sp>
      <p:sp>
        <p:nvSpPr>
          <p:cNvPr id="26" name="Shape 19"/>
          <p:cNvSpPr/>
          <p:nvPr/>
        </p:nvSpPr>
        <p:spPr>
          <a:xfrm>
            <a:off x="457200" y="3840480"/>
            <a:ext cx="54864" cy="64008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7" name="Text 20"/>
          <p:cNvSpPr/>
          <p:nvPr/>
        </p:nvSpPr>
        <p:spPr>
          <a:xfrm>
            <a:off x="777240" y="3886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CASE: Data already structured in Maven — AI ingest is insurance.  FALLBACK: Data arrives unstructured — the AI pipeline (proven in LOE 2) handles it. Either way, Overwatch is ready. LOE 3 builds in parallel, not sequentially.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MITIGATIONS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0" y="1005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0058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2344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Command 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2344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to CENTCOM and INDOPACOM has not received response. Unit-internal data requests face friction — requirements not yet defined.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0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S3/S5 exercise data in parallel. Need leadership to open doors and make introductions at joint command level.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057400"/>
            <a:ext cx="54864" cy="777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031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Unknown Data Formats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operational data formats remain unknown. Schemas are built on assumptions from doctrine and mil specs.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21031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AI pipeline designed for format ambiguity. Best case: data already structured in Maven, making AI ingest a fallback.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26080"/>
            <a:ext cx="54864" cy="7772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9718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Systems Knowledge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learning Maven/Palantir platform capabilities while building. Ontology not yet formally mapped.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0" y="29718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reps available for support. Building in Maven now to learn by doing — not waiting for survey to finish.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772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840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40080" y="4069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Systems Access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0" y="3840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 sources of truth require accounts or access authorizations still in progress.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Pursuing access requests in parallel. Relying on unit exports and shared data in the interim.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823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OVERWATCH  |  LEADERSHIP BRIEF  |  MARCH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 FROM LEADERSHIP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70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Command Introductions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CENTCOM/INDOPACOM outreach stalled. Need introductions to data owners and operational planners.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65960"/>
            <a:ext cx="54864" cy="7772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Mid-May POC Review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 POC 1 &amp; POC 2 demo. Provide direction on follow-on priorities.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0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Maven Platform Advocacy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 access to Maven resources, professional services, and technical support.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246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solidFill>
            <a:srgbClr val="1B2D45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703320"/>
            <a:ext cx="54864" cy="777240"/>
          </a:xfrm>
          <a:prstGeom prst="rect">
            <a:avLst/>
          </a:prstGeom>
          <a:solidFill>
            <a:srgbClr val="FB85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76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/ Development Decision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Delta 85 has a parallel effort with similar goals. Decide: one tool, both, or combine efforts.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30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 AHEAD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097280" cy="36576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30 DAYS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69164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 S3/S5 exercise data and Maven holdings; escalate CENTCOM/INDOPACOM access through leadership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1737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240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POC 1 (ingest → structure → visualize) and build POC 2 (gap detection &amp; impact analysis) for mid-May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2286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889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AI pipeline and doc parsing build in Maven; map ontology as real data formats emerge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320040" cy="320040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33756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mid-May stakeholder review; define success criteria across all three LOEs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8952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STATE: A production-ready, AI-powered operational intelligence system running within Maven Smart System, ingesting real data and providing real-time decision support to Joint Force Commanders.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86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OVERWATCH — Plan of Action &amp; Milestones (Leadership Brief)</dc:title>
  <dc:subject>PptxGenJS Presentation</dc:subject>
  <dc:creator>Dustin Stringer</dc:creator>
  <cp:lastModifiedBy>Dustin Stringer</cp:lastModifiedBy>
  <cp:revision>1</cp:revision>
  <dcterms:created xsi:type="dcterms:W3CDTF">2026-03-27T18:27:07Z</dcterms:created>
  <dcterms:modified xsi:type="dcterms:W3CDTF">2026-03-27T18:27:07Z</dcterms:modified>
</cp:coreProperties>
</file>