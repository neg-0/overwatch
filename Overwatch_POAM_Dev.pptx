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63040"/>
            <a:ext cx="54864" cy="201168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8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OVERWATCH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05840" y="2148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300" kern="0" dirty="0">
                <a:solidFill>
                  <a:srgbClr val="3A8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OF ACTION &amp; MILESTONES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27889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Narrative-to-Structure Intelligence Pipeline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Parallel Lines of Effort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Data  •  Build the AI POC  •  Integrate Maven Smart System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0" y="4434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8231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OVERWATCH  |  PLAN OF ACTION &amp; MILESTONES  |  MARCH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188720"/>
            <a:ext cx="3931920" cy="155448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88720"/>
            <a:ext cx="54864" cy="155448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16916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data exists as unstructured narratives — OPLANs, FRAGORDs, Intel reports. Manual extraction is slow, error-prone, and can't keep pace with decision timelines.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3931920" cy="155448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88720"/>
            <a:ext cx="54864" cy="155448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16916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Overwatch uses AI to transform narrative data into structured findings, tasking orders, and a knowledge graph — enabling real-time decision support across all domains.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2560320" cy="141732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017520"/>
            <a:ext cx="2560320" cy="45720"/>
          </a:xfrm>
          <a:prstGeom prst="rect">
            <a:avLst/>
          </a:prstGeom>
          <a:solidFill>
            <a:srgbClr val="3A86FF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200400"/>
            <a:ext cx="274320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60120" y="31821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LOE 1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960120" y="3401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 the Data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94360" y="3794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real data sources, formats, security constraints, and access paths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291840" y="3017520"/>
            <a:ext cx="2560320" cy="141732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291840" y="3017520"/>
            <a:ext cx="2560320" cy="45720"/>
          </a:xfrm>
          <a:prstGeom prst="rect">
            <a:avLst/>
          </a:prstGeom>
          <a:solidFill>
            <a:srgbClr val="FFB703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3200400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794760" y="31821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LOE 2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3794760" y="3401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AI POC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3429000" y="3794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system using AI-generated scenario data to prove ingest and advisor capabilities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6126480" y="3017520"/>
            <a:ext cx="2560320" cy="141732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126480" y="3017520"/>
            <a:ext cx="2560320" cy="45720"/>
          </a:xfrm>
          <a:prstGeom prst="rect">
            <a:avLst/>
          </a:prstGeom>
          <a:solidFill>
            <a:srgbClr val="06D6A0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200400"/>
            <a:ext cx="274320" cy="27432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629400" y="31821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LOE 3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6629400" y="3401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Maven Smart System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6263640" y="3794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into the production Maven platform for operational use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8231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OVERWATCH  |  PLAN OF ACTION &amp; MILESTONES  |  MARCH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STATE &amp; LOE PROGRESS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97280"/>
            <a:ext cx="2606040" cy="342900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97280"/>
            <a:ext cx="2606040" cy="45720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280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8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LOE 1: Find &amp; Define Data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600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645920" y="1691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2240280"/>
            <a:ext cx="2331720" cy="109728"/>
          </a:xfrm>
          <a:prstGeom prst="rect">
            <a:avLst/>
          </a:prstGeom>
          <a:solidFill>
            <a:srgbClr val="324A5F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2240280"/>
            <a:ext cx="349758" cy="109728"/>
          </a:xfrm>
          <a:prstGeom prst="rect">
            <a:avLst/>
          </a:prstGeom>
          <a:solidFill>
            <a:srgbClr val="3A86FF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596896"/>
            <a:ext cx="146304" cy="14630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22960" y="2542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S3/S5 exercise and past data now</a:t>
            </a:r>
            <a:endParaRPr lang="en-US" sz="9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898648"/>
            <a:ext cx="146304" cy="14630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22960" y="28437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CENTCOM/INDOPACOM outreach — awaiting response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00400"/>
            <a:ext cx="146304" cy="1463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2960" y="31455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Surveying existing Maven holdings</a:t>
            </a:r>
            <a:endParaRPr lang="en-US" sz="9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502152"/>
            <a:ext cx="146304" cy="14630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2960" y="34472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data requirements for joint commands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3246120" y="1097280"/>
            <a:ext cx="2606040" cy="342900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3246120" y="1097280"/>
            <a:ext cx="2606040" cy="457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24" name="Text 18"/>
          <p:cNvSpPr/>
          <p:nvPr/>
        </p:nvSpPr>
        <p:spPr>
          <a:xfrm>
            <a:off x="3383280" y="1280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LOE 2: Build AI POC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3383280" y="1600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~65%</a:t>
            </a:r>
            <a:endParaRPr lang="en-US" sz="3200" dirty="0"/>
          </a:p>
        </p:txBody>
      </p:sp>
      <p:sp>
        <p:nvSpPr>
          <p:cNvPr id="26" name="Text 20"/>
          <p:cNvSpPr/>
          <p:nvPr/>
        </p:nvSpPr>
        <p:spPr>
          <a:xfrm>
            <a:off x="4434840" y="1691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 for May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3383280" y="2240280"/>
            <a:ext cx="2331720" cy="109728"/>
          </a:xfrm>
          <a:prstGeom prst="rect">
            <a:avLst/>
          </a:prstGeom>
          <a:solidFill>
            <a:srgbClr val="324A5F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2596896"/>
            <a:ext cx="146304" cy="14630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611880" y="2542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1 (~85%): ingest → normalize → KG → map/Gantt</a:t>
            </a:r>
            <a:endParaRPr lang="en-US" sz="9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0" y="2898648"/>
            <a:ext cx="146304" cy="14630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3611880" y="28437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2 (not started): gap detection, priority tracing, impact analysis</a:t>
            </a:r>
            <a:endParaRPr lang="en-US" sz="90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0" y="3200400"/>
            <a:ext cx="146304" cy="14630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3611880" y="31455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scenario generation pipeline operational</a:t>
            </a:r>
            <a:endParaRPr lang="en-US" sz="900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3280" y="3502152"/>
            <a:ext cx="146304" cy="146304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3611880" y="34472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graph: strategy → missions → assets &amp; dependencies</a:t>
            </a:r>
            <a:endParaRPr lang="en-US" sz="900" dirty="0"/>
          </a:p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83280" y="3803904"/>
            <a:ext cx="146304" cy="146304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3611880" y="3749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simulation engine with orbital propagation</a:t>
            </a:r>
            <a:endParaRPr lang="en-US" sz="900" dirty="0"/>
          </a:p>
        </p:txBody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83280" y="4105656"/>
            <a:ext cx="146304" cy="146304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3611880" y="40507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plan: harden → detect → surface → polish</a:t>
            </a:r>
            <a:endParaRPr lang="en-US" sz="900" dirty="0"/>
          </a:p>
        </p:txBody>
      </p:sp>
      <p:sp>
        <p:nvSpPr>
          <p:cNvPr id="40" name="Shape 28"/>
          <p:cNvSpPr/>
          <p:nvPr/>
        </p:nvSpPr>
        <p:spPr>
          <a:xfrm>
            <a:off x="6035040" y="1097280"/>
            <a:ext cx="2606040" cy="342900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41" name="Shape 29"/>
          <p:cNvSpPr/>
          <p:nvPr/>
        </p:nvSpPr>
        <p:spPr>
          <a:xfrm>
            <a:off x="6035040" y="1097280"/>
            <a:ext cx="2606040" cy="457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2" name="Text 30"/>
          <p:cNvSpPr/>
          <p:nvPr/>
        </p:nvSpPr>
        <p:spPr>
          <a:xfrm>
            <a:off x="6172200" y="1280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LOE 3: Maven Smart System</a:t>
            </a:r>
            <a:endParaRPr lang="en-US" sz="1100" dirty="0"/>
          </a:p>
        </p:txBody>
      </p:sp>
      <p:sp>
        <p:nvSpPr>
          <p:cNvPr id="43" name="Text 31"/>
          <p:cNvSpPr/>
          <p:nvPr/>
        </p:nvSpPr>
        <p:spPr>
          <a:xfrm>
            <a:off x="6172200" y="1600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15%</a:t>
            </a:r>
            <a:endParaRPr lang="en-US" sz="3200" dirty="0"/>
          </a:p>
        </p:txBody>
      </p:sp>
      <p:sp>
        <p:nvSpPr>
          <p:cNvPr id="44" name="Text 32"/>
          <p:cNvSpPr/>
          <p:nvPr/>
        </p:nvSpPr>
        <p:spPr>
          <a:xfrm>
            <a:off x="7223760" y="1691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00" dirty="0"/>
          </a:p>
        </p:txBody>
      </p:sp>
      <p:sp>
        <p:nvSpPr>
          <p:cNvPr id="45" name="Shape 33"/>
          <p:cNvSpPr/>
          <p:nvPr/>
        </p:nvSpPr>
        <p:spPr>
          <a:xfrm>
            <a:off x="6172200" y="2240280"/>
            <a:ext cx="2331720" cy="109728"/>
          </a:xfrm>
          <a:prstGeom prst="rect">
            <a:avLst/>
          </a:prstGeom>
          <a:solidFill>
            <a:srgbClr val="324A5F"/>
          </a:solidFill>
          <a:ln/>
        </p:spPr>
      </p:sp>
      <p:sp>
        <p:nvSpPr>
          <p:cNvPr id="46" name="Shape 34"/>
          <p:cNvSpPr/>
          <p:nvPr/>
        </p:nvSpPr>
        <p:spPr>
          <a:xfrm>
            <a:off x="6172200" y="2240280"/>
            <a:ext cx="349758" cy="109728"/>
          </a:xfrm>
          <a:prstGeom prst="rect">
            <a:avLst/>
          </a:prstGeom>
          <a:solidFill>
            <a:srgbClr val="06D6A0"/>
          </a:solidFill>
          <a:ln/>
        </p:spPr>
      </p:sp>
      <p:pic>
        <p:nvPicPr>
          <p:cNvPr id="4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72200" y="2596896"/>
            <a:ext cx="146304" cy="146304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6400800" y="2542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doc generation underway in Maven (parallel to LOE 2)</a:t>
            </a:r>
            <a:endParaRPr lang="en-US" sz="900" dirty="0"/>
          </a:p>
        </p:txBody>
      </p:sp>
      <p:pic>
        <p:nvPicPr>
          <p:cNvPr id="4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72200" y="2898648"/>
            <a:ext cx="146304" cy="146304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6400800" y="28437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real documentation for structured extraction</a:t>
            </a:r>
            <a:endParaRPr lang="en-US" sz="900" dirty="0"/>
          </a:p>
        </p:txBody>
      </p:sp>
      <p:pic>
        <p:nvPicPr>
          <p:cNvPr id="5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72200" y="3200400"/>
            <a:ext cx="146304" cy="146304"/>
          </a:xfrm>
          <a:prstGeom prst="rect">
            <a:avLst/>
          </a:prstGeom>
        </p:spPr>
      </p:pic>
      <p:sp>
        <p:nvSpPr>
          <p:cNvPr id="52" name="Text 37"/>
          <p:cNvSpPr/>
          <p:nvPr/>
        </p:nvSpPr>
        <p:spPr>
          <a:xfrm>
            <a:off x="6400800" y="31455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shaping from LOE 2 schema + emerging real data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8231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OVERWATCH  |  PLAN OF ACTION &amp; MILESTONES  |  MARCH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LOE 1: FIND &amp; DEFINE THE DATA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concurrent tracks: discover what exists, define what we need, bridge the gap with available data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1965960" cy="292608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554480"/>
            <a:ext cx="1965960" cy="45720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737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011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4231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S3/S5 exercise and past data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9718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Surveying existing Maven holdings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3520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Pursuing CENTCOM/INDOPACOM POCs (blocked — no response)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40690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exports and informal data sharing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06040" y="1554480"/>
            <a:ext cx="1965960" cy="292608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06040" y="1554480"/>
            <a:ext cx="1965960" cy="457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0" y="1737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0" y="2011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0" y="24231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formats can the AI pipeline handle?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0" y="29718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structured data does Maven need?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0" y="3520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commands produce for us?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0" y="40690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become requirements doc back to commands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1554480"/>
            <a:ext cx="1965960" cy="292608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554480"/>
            <a:ext cx="1965960" cy="457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1737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MAR–MAY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92040" y="2011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Bridge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24231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parse S3/S5 data to build schemas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92040" y="29718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into Maven once pipeline established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92040" y="3520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case: data already structured in Maven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92040" y="40690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AI ingest handles unstructured input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03720" y="1554480"/>
            <a:ext cx="1965960" cy="292608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03720" y="1554480"/>
            <a:ext cx="1965960" cy="45720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34" name="Text 32"/>
          <p:cNvSpPr/>
          <p:nvPr/>
        </p:nvSpPr>
        <p:spPr>
          <a:xfrm>
            <a:off x="7040880" y="1737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ONWARD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040880" y="2011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Formalize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040880" y="24231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doc to joint commands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040880" y="29718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persistent data feed pipelines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040880" y="3520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Machine-to-machine connections where possible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040880" y="40690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ETL paths from source to Overwatch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8231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OVERWATCH  |  PLAN OF ACTION &amp; MILESTONES  |  MARCH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LOE 2: THE FULL PIPELINE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POC using AI-generated scenario data — two proof of concepts targeting mid-May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2651760" cy="105156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417320"/>
            <a:ext cx="2651760" cy="36576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527048"/>
            <a:ext cx="274320" cy="274320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527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96112" y="15270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 Docs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1874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creates scenario documents (OPLANs, orders, intel)</a:t>
            </a:r>
            <a:endParaRPr lang="en-US" sz="9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4680" y="1737360"/>
            <a:ext cx="182880" cy="18288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3291840" y="1417320"/>
            <a:ext cx="2651760" cy="105156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91840" y="1417320"/>
            <a:ext cx="2651760" cy="36576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17" name="Shape 14"/>
          <p:cNvSpPr/>
          <p:nvPr/>
        </p:nvSpPr>
        <p:spPr>
          <a:xfrm>
            <a:off x="3383280" y="1527048"/>
            <a:ext cx="274320" cy="274320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18" name="Text 15"/>
          <p:cNvSpPr/>
          <p:nvPr/>
        </p:nvSpPr>
        <p:spPr>
          <a:xfrm>
            <a:off x="3383280" y="1527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730752" y="15270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 &amp; Structure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383280" y="1874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Classify, normalize, extract entities and relationships</a:t>
            </a:r>
            <a:endParaRPr lang="en-US" sz="9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737360"/>
            <a:ext cx="182880" cy="18288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6126480" y="1417320"/>
            <a:ext cx="2651760" cy="105156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126480" y="1417320"/>
            <a:ext cx="2651760" cy="36576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24" name="Shape 20"/>
          <p:cNvSpPr/>
          <p:nvPr/>
        </p:nvSpPr>
        <p:spPr>
          <a:xfrm>
            <a:off x="6217920" y="1527048"/>
            <a:ext cx="274320" cy="274320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25" name="Text 21"/>
          <p:cNvSpPr/>
          <p:nvPr/>
        </p:nvSpPr>
        <p:spPr>
          <a:xfrm>
            <a:off x="6217920" y="1527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565392" y="15270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 Graph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6217920" y="1874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→ missions → assets &amp; dependencies in a connected graph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57200" y="2651760"/>
            <a:ext cx="2651760" cy="105156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457200" y="2651760"/>
            <a:ext cx="2651760" cy="36576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0" name="Shape 26"/>
          <p:cNvSpPr/>
          <p:nvPr/>
        </p:nvSpPr>
        <p:spPr>
          <a:xfrm>
            <a:off x="548640" y="2761488"/>
            <a:ext cx="274320" cy="27432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31" name="Text 27"/>
          <p:cNvSpPr/>
          <p:nvPr/>
        </p:nvSpPr>
        <p:spPr>
          <a:xfrm>
            <a:off x="548640" y="2761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896112" y="27614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 &amp; Gantt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48640" y="3108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operational picture: units on map, missions on timeline</a:t>
            </a:r>
            <a:endParaRPr lang="en-US" sz="90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2971800"/>
            <a:ext cx="182880" cy="182880"/>
          </a:xfrm>
          <a:prstGeom prst="rect">
            <a:avLst/>
          </a:prstGeom>
        </p:spPr>
      </p:pic>
      <p:sp>
        <p:nvSpPr>
          <p:cNvPr id="35" name="Shape 30"/>
          <p:cNvSpPr/>
          <p:nvPr/>
        </p:nvSpPr>
        <p:spPr>
          <a:xfrm>
            <a:off x="3291840" y="2651760"/>
            <a:ext cx="2651760" cy="105156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3291840" y="2651760"/>
            <a:ext cx="2651760" cy="36576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7" name="Shape 32"/>
          <p:cNvSpPr/>
          <p:nvPr/>
        </p:nvSpPr>
        <p:spPr>
          <a:xfrm>
            <a:off x="3383280" y="2761488"/>
            <a:ext cx="274320" cy="27432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38" name="Text 33"/>
          <p:cNvSpPr/>
          <p:nvPr/>
        </p:nvSpPr>
        <p:spPr>
          <a:xfrm>
            <a:off x="3383280" y="2761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39" name="Text 34"/>
          <p:cNvSpPr/>
          <p:nvPr/>
        </p:nvSpPr>
        <p:spPr>
          <a:xfrm>
            <a:off x="3730752" y="27614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 Gaps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3383280" y="3108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graph: unmet dependencies, coverage gaps, time conflicts, ranked by priority</a:t>
            </a:r>
            <a:endParaRPr lang="en-US" sz="900" dirty="0"/>
          </a:p>
        </p:txBody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2971800"/>
            <a:ext cx="182880" cy="182880"/>
          </a:xfrm>
          <a:prstGeom prst="rect">
            <a:avLst/>
          </a:prstGeom>
        </p:spPr>
      </p:pic>
      <p:sp>
        <p:nvSpPr>
          <p:cNvPr id="42" name="Shape 36"/>
          <p:cNvSpPr/>
          <p:nvPr/>
        </p:nvSpPr>
        <p:spPr>
          <a:xfrm>
            <a:off x="6126480" y="2651760"/>
            <a:ext cx="2651760" cy="105156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43" name="Shape 37"/>
          <p:cNvSpPr/>
          <p:nvPr/>
        </p:nvSpPr>
        <p:spPr>
          <a:xfrm>
            <a:off x="6126480" y="2651760"/>
            <a:ext cx="2651760" cy="36576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4" name="Shape 38"/>
          <p:cNvSpPr/>
          <p:nvPr/>
        </p:nvSpPr>
        <p:spPr>
          <a:xfrm>
            <a:off x="6217920" y="2761488"/>
            <a:ext cx="274320" cy="27432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45" name="Text 39"/>
          <p:cNvSpPr/>
          <p:nvPr/>
        </p:nvSpPr>
        <p:spPr>
          <a:xfrm>
            <a:off x="6217920" y="2761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200" dirty="0"/>
          </a:p>
        </p:txBody>
      </p:sp>
      <p:sp>
        <p:nvSpPr>
          <p:cNvPr id="46" name="Text 40"/>
          <p:cNvSpPr/>
          <p:nvPr/>
        </p:nvSpPr>
        <p:spPr>
          <a:xfrm>
            <a:off x="6565392" y="27614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 Analysis</a:t>
            </a:r>
            <a:endParaRPr lang="en-US" sz="1100" dirty="0"/>
          </a:p>
        </p:txBody>
      </p:sp>
      <p:sp>
        <p:nvSpPr>
          <p:cNvPr id="47" name="Text 41"/>
          <p:cNvSpPr/>
          <p:nvPr/>
        </p:nvSpPr>
        <p:spPr>
          <a:xfrm>
            <a:off x="6217920" y="3108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if we lose X?" — trace cascade through KG to missions &amp; strategy priorities</a:t>
            </a:r>
            <a:endParaRPr lang="en-US" sz="900" dirty="0"/>
          </a:p>
        </p:txBody>
      </p:sp>
      <p:sp>
        <p:nvSpPr>
          <p:cNvPr id="48" name="Text 42"/>
          <p:cNvSpPr/>
          <p:nvPr/>
        </p:nvSpPr>
        <p:spPr>
          <a:xfrm>
            <a:off x="5760720" y="14173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1 — NARRATIVE → STRUCTURE (~85%)</a:t>
            </a:r>
            <a:endParaRPr lang="en-US" sz="800" dirty="0"/>
          </a:p>
        </p:txBody>
      </p:sp>
      <p:sp>
        <p:nvSpPr>
          <p:cNvPr id="49" name="Text 43"/>
          <p:cNvSpPr/>
          <p:nvPr/>
        </p:nvSpPr>
        <p:spPr>
          <a:xfrm>
            <a:off x="5760720" y="26517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2 — DECISION SUPPORT (not started)</a:t>
            </a:r>
            <a:endParaRPr lang="en-US" sz="800" dirty="0"/>
          </a:p>
        </p:txBody>
      </p:sp>
      <p:sp>
        <p:nvSpPr>
          <p:cNvPr id="50" name="Text 44"/>
          <p:cNvSpPr/>
          <p:nvPr/>
        </p:nvSpPr>
        <p:spPr>
          <a:xfrm>
            <a:off x="457200" y="39776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</a:t>
            </a:r>
            <a:endParaRPr lang="en-US" sz="900" dirty="0"/>
          </a:p>
        </p:txBody>
      </p:sp>
      <p:sp>
        <p:nvSpPr>
          <p:cNvPr id="51" name="Text 45"/>
          <p:cNvSpPr/>
          <p:nvPr/>
        </p:nvSpPr>
        <p:spPr>
          <a:xfrm>
            <a:off x="457200" y="41605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27–APR 10</a:t>
            </a:r>
            <a:endParaRPr lang="en-US" sz="800" dirty="0"/>
          </a:p>
        </p:txBody>
      </p:sp>
      <p:sp>
        <p:nvSpPr>
          <p:cNvPr id="52" name="Text 46"/>
          <p:cNvSpPr/>
          <p:nvPr/>
        </p:nvSpPr>
        <p:spPr>
          <a:xfrm>
            <a:off x="457200" y="434340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POC 1</a:t>
            </a:r>
            <a:endParaRPr lang="en-US" sz="900" dirty="0"/>
          </a:p>
        </p:txBody>
      </p:sp>
      <p:sp>
        <p:nvSpPr>
          <p:cNvPr id="53" name="Text 47"/>
          <p:cNvSpPr/>
          <p:nvPr/>
        </p:nvSpPr>
        <p:spPr>
          <a:xfrm>
            <a:off x="2606040" y="41605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10–25</a:t>
            </a:r>
            <a:endParaRPr lang="en-US" sz="800" dirty="0"/>
          </a:p>
        </p:txBody>
      </p:sp>
      <p:sp>
        <p:nvSpPr>
          <p:cNvPr id="54" name="Text 48"/>
          <p:cNvSpPr/>
          <p:nvPr/>
        </p:nvSpPr>
        <p:spPr>
          <a:xfrm>
            <a:off x="2606040" y="434340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detection engine</a:t>
            </a:r>
            <a:endParaRPr lang="en-US" sz="900" dirty="0"/>
          </a:p>
        </p:txBody>
      </p:sp>
      <p:sp>
        <p:nvSpPr>
          <p:cNvPr id="55" name="Text 49"/>
          <p:cNvSpPr/>
          <p:nvPr/>
        </p:nvSpPr>
        <p:spPr>
          <a:xfrm>
            <a:off x="4754880" y="41605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25–MAY 9</a:t>
            </a:r>
            <a:endParaRPr lang="en-US" sz="800" dirty="0"/>
          </a:p>
        </p:txBody>
      </p:sp>
      <p:sp>
        <p:nvSpPr>
          <p:cNvPr id="56" name="Text 50"/>
          <p:cNvSpPr/>
          <p:nvPr/>
        </p:nvSpPr>
        <p:spPr>
          <a:xfrm>
            <a:off x="4754880" y="434340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gaps &amp; impacts</a:t>
            </a:r>
            <a:endParaRPr lang="en-US" sz="900" dirty="0"/>
          </a:p>
        </p:txBody>
      </p:sp>
      <p:sp>
        <p:nvSpPr>
          <p:cNvPr id="57" name="Text 51"/>
          <p:cNvSpPr/>
          <p:nvPr/>
        </p:nvSpPr>
        <p:spPr>
          <a:xfrm>
            <a:off x="6903720" y="41605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9–20</a:t>
            </a:r>
            <a:endParaRPr lang="en-US" sz="800" dirty="0"/>
          </a:p>
        </p:txBody>
      </p:sp>
      <p:sp>
        <p:nvSpPr>
          <p:cNvPr id="58" name="Text 52"/>
          <p:cNvSpPr/>
          <p:nvPr/>
        </p:nvSpPr>
        <p:spPr>
          <a:xfrm>
            <a:off x="6903720" y="434340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+ demo prep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8231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OVERWATCH  |  PLAN OF ACTION &amp; MILESTONES  |  MARCH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LOE 3: MAVEN SMART SYSTEM INTEGRATION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in parallel with LOE 2 — re-engineering the same concepts inside the operational Maven environment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1965960" cy="292608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554480"/>
            <a:ext cx="1965960" cy="45720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737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011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Explore &amp; Build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377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doc generation underway in Maven (parallel LOE 2)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8529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real documentation for structured data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332841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platform capabilities by building in it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380390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Palantir reps available for guidance as needed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06040" y="1554480"/>
            <a:ext cx="1965960" cy="292608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06040" y="1554480"/>
            <a:ext cx="1965960" cy="457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0" y="1737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APR–MAY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0" y="2011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Pipeline + Ontology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97480" y="2377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Foundry transforms for ingest pipeline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697480" y="28529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AI document identification in AIP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97480" y="332841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LOE 2 patterns to Maven equivalents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697480" y="380390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takes shape as real data formats emerge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1554480"/>
            <a:ext cx="1965960" cy="292608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554480"/>
            <a:ext cx="1965960" cy="457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1737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MAY–JUL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92040" y="2011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Layer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2377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Overwatch dashboard in Workshop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46320" y="28529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Map/timeline views using platform geo tools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46320" y="332841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 workflows from LOE 2 POC 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46320" y="380390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ontology with LOE 1 real data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03720" y="1554480"/>
            <a:ext cx="1965960" cy="292608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03720" y="1554480"/>
            <a:ext cx="1965960" cy="45720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34" name="Text 32"/>
          <p:cNvSpPr/>
          <p:nvPr/>
        </p:nvSpPr>
        <p:spPr>
          <a:xfrm>
            <a:off x="7040880" y="1737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JUL–SEP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040880" y="2011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Operational Testing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95160" y="2377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testing with operators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995160" y="28529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validation at operational scale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995160" y="332841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 and accreditation prep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95160" y="380390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training and documentation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8231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OVERWATCH  |  PLAN OF ACTION &amp; MILESTONES  |  MARCH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INTEGRATED TIMELINE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7" name="Shape 5"/>
          <p:cNvSpPr/>
          <p:nvPr/>
        </p:nvSpPr>
        <p:spPr>
          <a:xfrm>
            <a:off x="2011680" y="1280160"/>
            <a:ext cx="953589" cy="365760"/>
          </a:xfrm>
          <a:prstGeom prst="rect">
            <a:avLst/>
          </a:prstGeom>
          <a:solidFill>
            <a:srgbClr val="1B2D45"/>
          </a:solidFill>
          <a:ln/>
        </p:spPr>
      </p:sp>
      <p:sp>
        <p:nvSpPr>
          <p:cNvPr id="8" name="Text 6"/>
          <p:cNvSpPr/>
          <p:nvPr/>
        </p:nvSpPr>
        <p:spPr>
          <a:xfrm>
            <a:off x="2011680" y="1280160"/>
            <a:ext cx="9535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65269" y="1280160"/>
            <a:ext cx="953589" cy="365760"/>
          </a:xfrm>
          <a:prstGeom prst="rect">
            <a:avLst/>
          </a:prstGeom>
          <a:solidFill>
            <a:srgbClr val="1B2D45"/>
          </a:solidFill>
          <a:ln/>
        </p:spPr>
      </p:sp>
      <p:sp>
        <p:nvSpPr>
          <p:cNvPr id="10" name="Text 8"/>
          <p:cNvSpPr/>
          <p:nvPr/>
        </p:nvSpPr>
        <p:spPr>
          <a:xfrm>
            <a:off x="2965269" y="1280160"/>
            <a:ext cx="9535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65269" y="1645920"/>
            <a:ext cx="0" cy="3291840"/>
          </a:xfrm>
          <a:prstGeom prst="line">
            <a:avLst/>
          </a:prstGeom>
          <a:noFill/>
          <a:ln w="6350">
            <a:solidFill>
              <a:srgbClr val="1B2D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18857" y="1280160"/>
            <a:ext cx="953589" cy="365760"/>
          </a:xfrm>
          <a:prstGeom prst="rect">
            <a:avLst/>
          </a:prstGeom>
          <a:solidFill>
            <a:srgbClr val="1B2D45"/>
          </a:solidFill>
          <a:ln/>
        </p:spPr>
      </p:sp>
      <p:sp>
        <p:nvSpPr>
          <p:cNvPr id="13" name="Text 11"/>
          <p:cNvSpPr/>
          <p:nvPr/>
        </p:nvSpPr>
        <p:spPr>
          <a:xfrm>
            <a:off x="3918857" y="1280160"/>
            <a:ext cx="9535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918857" y="1645920"/>
            <a:ext cx="0" cy="3291840"/>
          </a:xfrm>
          <a:prstGeom prst="line">
            <a:avLst/>
          </a:prstGeom>
          <a:noFill/>
          <a:ln w="6350">
            <a:solidFill>
              <a:srgbClr val="1B2D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72446" y="1280160"/>
            <a:ext cx="953589" cy="365760"/>
          </a:xfrm>
          <a:prstGeom prst="rect">
            <a:avLst/>
          </a:prstGeom>
          <a:solidFill>
            <a:srgbClr val="1B2D45"/>
          </a:solidFill>
          <a:ln/>
        </p:spPr>
      </p:sp>
      <p:sp>
        <p:nvSpPr>
          <p:cNvPr id="16" name="Text 14"/>
          <p:cNvSpPr/>
          <p:nvPr/>
        </p:nvSpPr>
        <p:spPr>
          <a:xfrm>
            <a:off x="4872446" y="1280160"/>
            <a:ext cx="9535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72446" y="1645920"/>
            <a:ext cx="0" cy="3291840"/>
          </a:xfrm>
          <a:prstGeom prst="line">
            <a:avLst/>
          </a:prstGeom>
          <a:noFill/>
          <a:ln w="6350">
            <a:solidFill>
              <a:srgbClr val="1B2D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26034" y="1280160"/>
            <a:ext cx="953589" cy="365760"/>
          </a:xfrm>
          <a:prstGeom prst="rect">
            <a:avLst/>
          </a:prstGeom>
          <a:solidFill>
            <a:srgbClr val="1B2D45"/>
          </a:solidFill>
          <a:ln/>
        </p:spPr>
      </p:sp>
      <p:sp>
        <p:nvSpPr>
          <p:cNvPr id="19" name="Text 17"/>
          <p:cNvSpPr/>
          <p:nvPr/>
        </p:nvSpPr>
        <p:spPr>
          <a:xfrm>
            <a:off x="5826034" y="1280160"/>
            <a:ext cx="9535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826034" y="1645920"/>
            <a:ext cx="0" cy="3291840"/>
          </a:xfrm>
          <a:prstGeom prst="line">
            <a:avLst/>
          </a:prstGeom>
          <a:noFill/>
          <a:ln w="6350">
            <a:solidFill>
              <a:srgbClr val="1B2D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79623" y="1280160"/>
            <a:ext cx="953589" cy="365760"/>
          </a:xfrm>
          <a:prstGeom prst="rect">
            <a:avLst/>
          </a:prstGeom>
          <a:solidFill>
            <a:srgbClr val="1B2D45"/>
          </a:solidFill>
          <a:ln/>
        </p:spPr>
      </p:sp>
      <p:sp>
        <p:nvSpPr>
          <p:cNvPr id="22" name="Text 20"/>
          <p:cNvSpPr/>
          <p:nvPr/>
        </p:nvSpPr>
        <p:spPr>
          <a:xfrm>
            <a:off x="6779623" y="1280160"/>
            <a:ext cx="9535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79623" y="1645920"/>
            <a:ext cx="0" cy="3291840"/>
          </a:xfrm>
          <a:prstGeom prst="line">
            <a:avLst/>
          </a:prstGeom>
          <a:noFill/>
          <a:ln w="6350">
            <a:solidFill>
              <a:srgbClr val="1B2D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33211" y="1280160"/>
            <a:ext cx="953589" cy="365760"/>
          </a:xfrm>
          <a:prstGeom prst="rect">
            <a:avLst/>
          </a:prstGeom>
          <a:solidFill>
            <a:srgbClr val="1B2D45"/>
          </a:solidFill>
          <a:ln/>
        </p:spPr>
      </p:sp>
      <p:sp>
        <p:nvSpPr>
          <p:cNvPr id="25" name="Text 23"/>
          <p:cNvSpPr/>
          <p:nvPr/>
        </p:nvSpPr>
        <p:spPr>
          <a:xfrm>
            <a:off x="7733211" y="1280160"/>
            <a:ext cx="9535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733211" y="1645920"/>
            <a:ext cx="0" cy="3291840"/>
          </a:xfrm>
          <a:prstGeom prst="line">
            <a:avLst/>
          </a:prstGeom>
          <a:noFill/>
          <a:ln w="6350">
            <a:solidFill>
              <a:srgbClr val="1B2D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12694" y="1234440"/>
            <a:ext cx="27432" cy="374904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28" name="Text 26"/>
          <p:cNvSpPr/>
          <p:nvPr/>
        </p:nvSpPr>
        <p:spPr>
          <a:xfrm>
            <a:off x="2492654" y="100584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26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395651" y="1234440"/>
            <a:ext cx="27432" cy="374904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0" name="Text 28"/>
          <p:cNvSpPr/>
          <p:nvPr/>
        </p:nvSpPr>
        <p:spPr>
          <a:xfrm>
            <a:off x="4075611" y="10058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DUE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74320" y="1965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8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LOE 1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A8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 Data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011680" y="2011680"/>
            <a:ext cx="2383971" cy="457200"/>
          </a:xfrm>
          <a:prstGeom prst="rect">
            <a:avLst/>
          </a:prstGeom>
          <a:solidFill>
            <a:srgbClr val="3A86FF">
              <a:alpha val="70000"/>
            </a:srgbClr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11680" y="2011680"/>
            <a:ext cx="23839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Discovery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395651" y="2011680"/>
            <a:ext cx="476794" cy="457200"/>
          </a:xfrm>
          <a:prstGeom prst="rect">
            <a:avLst/>
          </a:prstGeom>
          <a:solidFill>
            <a:srgbClr val="3A86FF">
              <a:alpha val="70000"/>
            </a:srgbClr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72446" y="2011680"/>
            <a:ext cx="3814354" cy="457200"/>
          </a:xfrm>
          <a:prstGeom prst="rect">
            <a:avLst/>
          </a:prstGeom>
          <a:solidFill>
            <a:srgbClr val="48647A">
              <a:alpha val="70000"/>
            </a:srgbClr>
          </a:solidFill>
          <a:ln w="12700">
            <a:solidFill>
              <a:srgbClr val="48647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72446" y="2011680"/>
            <a:ext cx="38143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Data Access &amp; Connectivity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74320" y="3063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LOE 2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POC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011680" y="3108960"/>
            <a:ext cx="2383971" cy="4572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11680" y="3108960"/>
            <a:ext cx="23839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Build &amp; Demo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872446" y="3108960"/>
            <a:ext cx="3814354" cy="457200"/>
          </a:xfrm>
          <a:prstGeom prst="rect">
            <a:avLst/>
          </a:prstGeom>
          <a:solidFill>
            <a:srgbClr val="48647A">
              <a:alpha val="70000"/>
            </a:srgbClr>
          </a:solidFill>
          <a:ln w="12700">
            <a:solidFill>
              <a:srgbClr val="48647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72446" y="3108960"/>
            <a:ext cx="38143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Follow-On Development (Shaped by POC Results)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74320" y="4160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LOE 3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Maven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011680" y="4206240"/>
            <a:ext cx="2383971" cy="457200"/>
          </a:xfrm>
          <a:prstGeom prst="rect">
            <a:avLst/>
          </a:prstGeom>
          <a:solidFill>
            <a:srgbClr val="06D6A0">
              <a:alpha val="7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011680" y="4206240"/>
            <a:ext cx="23839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&amp; Build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872446" y="4206240"/>
            <a:ext cx="1907177" cy="457200"/>
          </a:xfrm>
          <a:prstGeom prst="rect">
            <a:avLst/>
          </a:prstGeom>
          <a:solidFill>
            <a:srgbClr val="324A5F">
              <a:alpha val="70000"/>
            </a:srgbClr>
          </a:solidFill>
          <a:ln w="12700">
            <a:solidFill>
              <a:srgbClr val="324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72446" y="4206240"/>
            <a:ext cx="19071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Layer Build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779623" y="4206240"/>
            <a:ext cx="1907177" cy="457200"/>
          </a:xfrm>
          <a:prstGeom prst="rect">
            <a:avLst/>
          </a:prstGeom>
          <a:solidFill>
            <a:srgbClr val="48647A">
              <a:alpha val="70000"/>
            </a:srgbClr>
          </a:solidFill>
          <a:ln w="12700">
            <a:solidFill>
              <a:srgbClr val="48647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79623" y="4206240"/>
            <a:ext cx="19071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Testing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8231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OVERWATCH  |  PLAN OF ACTION &amp; MILESTONES  |  MARCH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DEPENDENCIES &amp; CONVERGENCE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three LOEs feed each other to converge on an operational system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2286000" cy="173736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554480"/>
            <a:ext cx="2286000" cy="45720"/>
          </a:xfrm>
          <a:prstGeom prst="rect">
            <a:avLst/>
          </a:prstGeom>
          <a:solidFill>
            <a:srgbClr val="3A86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05840" y="1737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8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LOE 1: Find &amp; Define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210312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what data exists and defines what Overwatch needs. Requirements flow back to commands. Best case: data already structured in Maven.</a:t>
            </a:r>
            <a:endParaRPr lang="en-US" sz="9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2240280"/>
            <a:ext cx="320040" cy="32004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429000" y="1554480"/>
            <a:ext cx="2286000" cy="173736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429000" y="1554480"/>
            <a:ext cx="2286000" cy="45720"/>
          </a:xfrm>
          <a:prstGeom prst="rect">
            <a:avLst/>
          </a:prstGeom>
          <a:solidFill>
            <a:srgbClr val="FFB70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17373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77640" y="1737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LOE 2: AI POC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3611880" y="210312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Air-gapped POC validates AI can handle format ambiguity. If data arrives structured, ingest becomes fallback insurance. Patterns transfer to Maven.</a:t>
            </a:r>
            <a:endParaRPr lang="en-US" sz="9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2240280"/>
            <a:ext cx="320040" cy="32004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400800" y="1554480"/>
            <a:ext cx="2286000" cy="173736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400800" y="1554480"/>
            <a:ext cx="2286000" cy="45720"/>
          </a:xfrm>
          <a:prstGeom prst="rect">
            <a:avLst/>
          </a:prstGeom>
          <a:solidFill>
            <a:srgbClr val="06D6A0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173736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949440" y="1737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LOE 3: Maven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6583680" y="210312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in parallel — not waiting for LOE 2. Re-engineering the same concepts inside Maven. Ontology shapes as real data and LOE 2 patterns converge.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457200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CROSS-LOE DEPENDENCIES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40480"/>
          <a:ext cx="8229600" cy="731520"/>
        </p:xfrm>
        <a:graphic>
          <a:graphicData uri="http://schemas.openxmlformats.org/drawingml/2006/table">
            <a:tbl>
              <a:tblPr/>
              <a:tblGrid>
                <a:gridCol w="3200400"/>
                <a:gridCol w="1371600"/>
                <a:gridCol w="1371600"/>
                <a:gridCol w="2286000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A5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data samples available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A8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LOE 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LOE 2, 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ingest patterns validated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LOE 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LOE 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Maven ontology mapped to schema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LOE 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LOE 1, 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8231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OVERWATCH  |  PLAN OF ACTION &amp; MILESTONES  |  MARCH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RISKS &amp; MITIGATIONS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058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/ IMPACT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0" y="10058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577840" y="10058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188720"/>
            <a:ext cx="54864" cy="77724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2344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" y="1463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Joint Command Access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12344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CENTCOM/INDOPACOM outreach has not received response. Unit-internal data requests face friction — nobody has defined what we need yet.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577840" y="12344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S3/S5 exercise data in parallel. Escalate through leadership for introductions. LOE 1 outputs become the requirements doc.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057400"/>
            <a:ext cx="8229600" cy="77724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057400"/>
            <a:ext cx="54864" cy="77724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1031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0080" y="23317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Unknown Data Formats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0" y="21031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formats remain unknown. Schemas built on doctrine assumptions. Best case (structured in Maven) vs worst case (raw unstructured) still TBD.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7784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designed for format ambiguity. If data arrives structured, ingest is fallback insurance. Schemas refine iteratively.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926080"/>
            <a:ext cx="8229600" cy="77724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2926080"/>
            <a:ext cx="54864" cy="777240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971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40080" y="3200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Maven Systems Knowledge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0" y="29718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learning Maven platform while building. Ontology not formally mapped. No deep Palantir expertise on team.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77840" y="29718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Palantir reps available. Learning by building — not waiting for survey. LOE 2 schema provides validated reference.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794760"/>
            <a:ext cx="8229600" cy="77724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794760"/>
            <a:ext cx="54864" cy="77724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8404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0080" y="40690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Systems Access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43200" y="38404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data sources require accounts or access authorizations still in progress.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77840" y="38404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Pursuing access requests in parallel. Relying on unit exports and shared data. Manual parsing of S3/S5 data to keep building.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8231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OVERWATCH  |  PLAN OF ACTION &amp; MILESTONES  |  MARCH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MILESTONES &amp; DECISION POINTS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FFB703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914400"/>
                <a:gridCol w="2926080"/>
                <a:gridCol w="640080"/>
                <a:gridCol w="37490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/ Gate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8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Leadership findings report: data landscape, LIMFACs, access needs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8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 report to leadership; catalog S3/S5 + Maven holdings; request action on gaps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Maven AI pipeline prototype; ontology draft from LOE 2 patterns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Maven viability; assess ontology alignment with real 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 1 demo: ingest → KG → map/Gantt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 review of narrative→structure pipeline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 2: gap detection, priority tracing, impact analysis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Demonstrate decision support layer on structured 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8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ingest patterns validated; Maven pipeline prototype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8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AI patterns port to Maven AIP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Maven MVP ready for exercise 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against exercise scenario; confirm operator readiness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Maven dashboard full MVP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 acceptance, begin UAT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 / Continued Development Decision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Deploy, continue development, or combine with System Delta 85 effort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 AHEAD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097280" cy="36576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IMMEDIATE ACTIONS (NEXT 30 DAYS)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320040" cy="320040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6916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Characterize S3/S5 exercise data and Maven holdings; escalate CENTCOM/INDOPACOM access through leadership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89520" y="1737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LOE 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2286000"/>
            <a:ext cx="320040" cy="320040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286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22402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POC 1 (ingest→KG→viz), build POC 2 (gap detection, priority tracing, impact analysis) for mid-May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589520" y="2286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LOE 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2834640"/>
            <a:ext cx="320040" cy="320040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278892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AI pipeline and doc parsing build in Maven; map ontology as real data formats emerge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89520" y="2834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LOE 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3383280"/>
            <a:ext cx="320040" cy="320040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383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333756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mid-May POC review with stakeholders; define success criteria across all three LOEs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89520" y="3383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0233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STATE: A production-ready, AI-powered operational intelligence system running within Maven Smart System, ingesting real data and providing real-time decision support to Joint Force Commanders.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OVERWATCH — Plan of Action &amp; Milestones (Dev Team)</dc:title>
  <dc:subject>PptxGenJS Presentation</dc:subject>
  <dc:creator>Dustin Stringer</dc:creator>
  <cp:lastModifiedBy>Dustin Stringer</cp:lastModifiedBy>
  <cp:revision>1</cp:revision>
  <dcterms:created xsi:type="dcterms:W3CDTF">2026-03-27T18:27:08Z</dcterms:created>
  <dcterms:modified xsi:type="dcterms:W3CDTF">2026-03-27T18:27:08Z</dcterms:modified>
</cp:coreProperties>
</file>